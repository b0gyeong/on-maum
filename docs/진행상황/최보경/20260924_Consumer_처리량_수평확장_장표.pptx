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B2A41"/>
                </a:solidFill>
                <a:latin typeface="Malgun Gothic"/>
              </a:defRPr>
            </a:pPr>
            <a:r>
              <a:rPr sz="1100" b="0" i="0" u="none" strike="noStrike">
                <a:solidFill>
                  <a:srgbClr val="1B2A41"/>
                </a:solidFill>
                <a:latin typeface="Malgun Gothic"/>
              </a:rPr>
              <a:t>Consumer 수별 안정 처리 상한 (msg/s = 가구 수 @1Hz)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실측 안정 상한</c:v>
                </c:pt>
              </c:strCache>
            </c:strRef>
          </c:tx>
          <c:spPr>
            <a:solidFill>
              <a:srgbClr val="0F6E7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A41"/>
                    </a:solidFill>
                    <a:latin typeface="Malgun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1개</c:v>
                  </c:pt>
                  <c:pt idx="1">
                    <c:v>2개</c:v>
                  </c:pt>
                  <c:pt idx="2">
                    <c:v>4개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</c:v>
                </c:pt>
                <c:pt idx="1">
                  <c:v>25</c:v>
                </c:pt>
                <c:pt idx="2">
                  <c:v>47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선형 기대치 (15×n)</c:v>
                </c:pt>
              </c:strCache>
            </c:strRef>
          </c:tx>
          <c:spPr>
            <a:solidFill>
              <a:srgbClr val="C9DAD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A41"/>
                    </a:solidFill>
                    <a:latin typeface="Malgun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1개</c:v>
                  </c:pt>
                  <c:pt idx="1">
                    <c:v>2개</c:v>
                  </c:pt>
                  <c:pt idx="2">
                    <c:v>4개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15</c:v>
                </c:pt>
                <c:pt idx="1">
                  <c:v>30</c:v>
                </c:pt>
                <c:pt idx="2">
                  <c:v>60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B2A41"/>
                  </a:solidFill>
                  <a:latin typeface="Malgun 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6B7280"/>
                    </a:solidFill>
                    <a:latin typeface="Malgun Gothic"/>
                  </a:defRPr>
                </a:pPr>
                <a:r>
                  <a:rPr sz="900" b="0" i="0" u="none" strike="noStrike">
                    <a:solidFill>
                      <a:srgbClr val="6B7280"/>
                    </a:solidFill>
                    <a:latin typeface="Malgun Gothic"/>
                  </a:rPr>
                  <a:t>Consumer 수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Malgun Gothic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6B7280"/>
              </a:solidFill>
              <a:latin typeface="Malgun Gothic"/>
              <a:cs typeface="Malgun Gothic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B2A41"/>
                </a:solidFill>
                <a:latin typeface="Malgun Gothic"/>
              </a:defRPr>
            </a:pPr>
            <a:r>
              <a:rPr sz="1100" b="0" i="0" u="none" strike="noStrike">
                <a:solidFill>
                  <a:srgbClr val="1B2A41"/>
                </a:solidFill>
                <a:latin typeface="Malgun Gothic"/>
              </a:rPr>
              <a:t>메시지 1건의 단계별 평균 처리 시간 (ms, 4 consumer × 50가구 기준)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inference</c:v>
                </c:pt>
              </c:strCache>
            </c:strRef>
          </c:tx>
          <c:spPr>
            <a:solidFill>
              <a:srgbClr val="0F6E7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Malgun Gothic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평균 처리 시간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25.2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activity_db</c:v>
                </c:pt>
              </c:strCache>
            </c:strRef>
          </c:tx>
          <c:spPr>
            <a:solidFill>
              <a:srgbClr val="1F8F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Malgun Gothic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평균 처리 시간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16.8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anomaly_detection</c:v>
                </c:pt>
              </c:strCache>
            </c:strRef>
          </c:tx>
          <c:spPr>
            <a:solidFill>
              <a:srgbClr val="3FB8A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Malgun Gothic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평균 처리 시간</c:v>
                  </c:pt>
                </c:lvl>
              </c:multiLvlStrCache>
            </c:multiLvl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10.1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observation_db</c:v>
                </c:pt>
              </c:strCache>
            </c:strRef>
          </c:tx>
          <c:spPr>
            <a:solidFill>
              <a:srgbClr val="7F9A9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Malgun Gothic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평균 처리 시간</c:v>
                  </c:pt>
                </c:lvl>
              </c:multiLvlStrCache>
            </c:multiLvl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6.2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publish</c:v>
                </c:pt>
              </c:strCache>
            </c:strRef>
          </c:tx>
          <c:spPr>
            <a:solidFill>
              <a:srgbClr val="A3B1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Malgun Gothic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평균 처리 시간</c:v>
                  </c:pt>
                </c:lvl>
              </c:multiLvlStrCache>
            </c:multiLvlStrRef>
          </c:cat>
          <c:val>
            <c:numRef>
              <c:f>Sheet1!$F$2:$F$2</c:f>
              <c:numCache>
                <c:formatCode>General</c:formatCode>
                <c:ptCount val="1"/>
                <c:pt idx="0">
                  <c:v>1.8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Malgun Gothic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1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6B7280"/>
              </a:solidFill>
              <a:latin typeface="Malgun Gothic"/>
              <a:cs typeface="Malgun Gothic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메시지 하나 처리에 약 60ms(직렬), 그래서 consumer당 12~15 msg/s. consumer 수를 늘리면 4개까지 거의 비례. 기대치와의 차이는 파티션 분배 불균형과 호스트 경합. 5개는 노트북 CPU 한계라 각주로만 언급.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stage_avg 합계 약 60ms → 1/0.06 ≈ 16 msg/s가 consumer 하나의 상한. 추론이 42%로 가장 커서 배치 추론 효과가 가장 크다. 첫 검증은 1 consumer × 20가구.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모델 처리량과 Consumer 수평 확장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추론 p95 47ms · Consumer 4개로 47가구(@1Hz)까지 선형 확장</a:t>
            </a:r>
            <a:endParaRPr lang="en-US" sz="2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325880"/>
          <a:ext cx="493776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669280" y="1371600"/>
            <a:ext cx="1463040" cy="1097280"/>
          </a:xfrm>
          <a:prstGeom prst="roundRect">
            <a:avLst>
              <a:gd name="adj" fmla="val 6667"/>
            </a:avLst>
          </a:prstGeom>
          <a:solidFill>
            <a:srgbClr val="EEF4F4"/>
          </a:solidFill>
          <a:ln w="12700">
            <a:solidFill>
              <a:srgbClr val="EEF4F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806440" y="144475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6E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47ms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5806440" y="193852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추론 p95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806440" y="217627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1~4개 모두 45~49ms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7269480" y="1371600"/>
            <a:ext cx="1463040" cy="1097280"/>
          </a:xfrm>
          <a:prstGeom prst="roundRect">
            <a:avLst>
              <a:gd name="adj" fmla="val 6667"/>
            </a:avLst>
          </a:prstGeom>
          <a:solidFill>
            <a:srgbClr val="EEF4F4"/>
          </a:solidFill>
          <a:ln w="12700">
            <a:solidFill>
              <a:srgbClr val="EEF4F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406640" y="144475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6E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60ms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7406640" y="193852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메시지당 처리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406640" y="217627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직렬 단계 합계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669280" y="2606040"/>
            <a:ext cx="1463040" cy="1097280"/>
          </a:xfrm>
          <a:prstGeom prst="roundRect">
            <a:avLst>
              <a:gd name="adj" fmla="val 6667"/>
            </a:avLst>
          </a:prstGeom>
          <a:solidFill>
            <a:srgbClr val="EEF4F4"/>
          </a:solidFill>
          <a:ln w="12700">
            <a:solidFill>
              <a:srgbClr val="EEF4F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806440" y="267919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6E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12~15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5806440" y="317296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Consumer당 msg/s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5806440" y="341071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 처리 한계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7269480" y="2606040"/>
            <a:ext cx="1463040" cy="1097280"/>
          </a:xfrm>
          <a:prstGeom prst="roundRect">
            <a:avLst>
              <a:gd name="adj" fmla="val 6667"/>
            </a:avLst>
          </a:prstGeom>
          <a:solidFill>
            <a:srgbClr val="EEF4F4"/>
          </a:solidFill>
          <a:ln w="12700">
            <a:solidFill>
              <a:srgbClr val="EEF4F4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406640" y="267919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6E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7406640" y="317296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 · DLQ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7406640" y="341071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22개 런 전체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5669280" y="388620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 효율 </a:t>
            </a:r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1→4개 3.1배(78%) · 안정 구간 E2E p95 0.9~1.0s · Consumer당 RSS 약 310MiB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* 5개는 노트북 CPU 경합으로 오히려 저하(추론 p95 46→75ms). 로컬 Docker Compose, 실제 모델, 입력 윈도우 255, 2026-09-21~23 측정.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Consumer당 한계의 원인과 다음 단계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메시지당 60ms 중 추론 42% — 다음은 증설이 아닌 배치 추론</a:t>
            </a:r>
            <a:endParaRPr lang="en-US" sz="2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325880"/>
          <a:ext cx="8229600" cy="1417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292608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EEF4F4"/>
          </a:solidFill>
          <a:ln w="12700">
            <a:solidFill>
              <a:srgbClr val="EEF4F4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94360" y="3063240"/>
            <a:ext cx="347472" cy="347472"/>
          </a:xfrm>
          <a:prstGeom prst="ellipse">
            <a:avLst/>
          </a:prstGeom>
          <a:solidFill>
            <a:srgbClr val="0F6E74"/>
          </a:solidFill>
          <a:ln w="12700">
            <a:solidFill>
              <a:srgbClr val="0F6E7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3063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024128" y="306324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스레드 수 고정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349300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OMP/MKL/torch threads 1~2로 제한. 여러 컨테이너가 한 호스트에서 CPU를 나눠 쓸 때 추론 지연 흔들림 제거. 비용 최저.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246120" y="292608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EEF4F4"/>
          </a:solidFill>
          <a:ln w="12700">
            <a:solidFill>
              <a:srgbClr val="EEF4F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383280" y="3063240"/>
            <a:ext cx="347472" cy="347472"/>
          </a:xfrm>
          <a:prstGeom prst="ellipse">
            <a:avLst/>
          </a:prstGeom>
          <a:solidFill>
            <a:srgbClr val="0F6E74"/>
          </a:solidFill>
          <a:ln w="12700">
            <a:solidFill>
              <a:srgbClr val="0F6E7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383280" y="3063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3813048" y="306324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배치 추론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3383280" y="349300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poll의 여러 가구 윈도우를 하나의 forward pass로. 가장 큰 단계(25ms)를 줄여 Consumer당 한계를 직접 올림.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035040" y="292608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EEF4F4"/>
          </a:solidFill>
          <a:ln w="12700">
            <a:solidFill>
              <a:srgbClr val="EEF4F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172200" y="3063240"/>
            <a:ext cx="347472" cy="347472"/>
          </a:xfrm>
          <a:prstGeom prst="ellipse">
            <a:avLst/>
          </a:prstGeom>
          <a:solidFill>
            <a:srgbClr val="0F6E74"/>
          </a:solidFill>
          <a:ln w="12700">
            <a:solidFill>
              <a:srgbClr val="0F6E74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172200" y="3063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6601968" y="306324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쓰기 비동기화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6172200" y="349300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observation/activity DB(합 23ms)를 배치 insert·비동기 큐로 빼서 Snapshot 발행 전 대기 제거. Outbox와 함께 검토.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241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실험: 1 Consumer × 20가구(현재 lag 383, E2E 28.9s로 한계 초과)가 개선 후 안정으로 바뀌는지 확인.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2026-09-24T06:24:21Z</dcterms:created>
  <dcterms:modified xsi:type="dcterms:W3CDTF">2026-09-24T06:24:21Z</dcterms:modified>
</cp:coreProperties>
</file>