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c3158eebe84539" /><Relationship Type="http://schemas.openxmlformats.org/officeDocument/2006/relationships/extended-properties" Target="/docProps/app.xml" Id="Rb68b461c5ed142b9" /><Relationship Type="http://schemas.openxmlformats.org/officeDocument/2006/relationships/officeDocument" Target="/ppt/presentation.xml" Id="R90e318a229c64f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1cbd625226460a"/>
  </p:sldMasterIdLst>
  <p:notesMasterIdLst>
    <p:notesMasterId xmlns:r="http://schemas.openxmlformats.org/officeDocument/2006/relationships" r:id="R0a63b33ea08b4040"/>
  </p:notesMasterIdLst>
  <p:sldIdLst>
    <p:sldId xmlns:r="http://schemas.openxmlformats.org/officeDocument/2006/relationships" id="256" r:id="R63e4c4809de745a9"/>
    <p:sldId xmlns:r="http://schemas.openxmlformats.org/officeDocument/2006/relationships" id="257" r:id="R0bf2fd7420494780"/>
    <p:sldId xmlns:r="http://schemas.openxmlformats.org/officeDocument/2006/relationships" id="258" r:id="Rdb99ada25f8145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57251871054dfc" /><Relationship Type="http://schemas.openxmlformats.org/officeDocument/2006/relationships/slideMaster" Target="/ppt/slideMasters/slideMaster1.xml" Id="Rc91cbd625226460a" /><Relationship Type="http://schemas.openxmlformats.org/officeDocument/2006/relationships/notesMaster" Target="/ppt/notesMasters/notesMaster1.xml" Id="R0a63b33ea08b4040" /><Relationship Type="http://schemas.openxmlformats.org/officeDocument/2006/relationships/presProps" Target="/ppt/presProps.xml" Id="Rea58a17221f647c9" /><Relationship Type="http://schemas.openxmlformats.org/officeDocument/2006/relationships/tableStyles" Target="/ppt/tableStyles.xml" Id="R2f83e797d9d84f68" /><Relationship Type="http://schemas.openxmlformats.org/officeDocument/2006/relationships/slide" Target="/ppt/slides/slide1.xml" Id="R63e4c4809de745a9" /><Relationship Type="http://schemas.openxmlformats.org/officeDocument/2006/relationships/slide" Target="/ppt/slides/slide2.xml" Id="R0bf2fd7420494780" /><Relationship Type="http://schemas.openxmlformats.org/officeDocument/2006/relationships/slide" Target="/ppt/slides/slide3.xml" Id="Rdb99ada25f8145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5ef26ab6dd43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3d677ddc0a4be9" /><Relationship Type="http://schemas.openxmlformats.org/officeDocument/2006/relationships/notesMaster" Target="/ppt/notesMasters/notesMaster1.xml" Id="R3431aca9d1b84e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35ed62a29b4358" /><Relationship Type="http://schemas.openxmlformats.org/officeDocument/2006/relationships/notesMaster" Target="/ppt/notesMasters/notesMaster1.xml" Id="Re54af779a90a4e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3289cdcea54639" /><Relationship Type="http://schemas.openxmlformats.org/officeDocument/2006/relationships/notesMaster" Target="/ppt/notesMasters/notesMaster1.xml" Id="R6f42e6c9be8a42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C:\Users\SSAFY\Desktop\D201\S15P21D201\docs\진행상황\최보경\20260927_observation_db_배치_flush_전후_측정.md</a:t>
            </a:r>
          </a:p>
          <a:p xmlns:a="http://schemas.openxmlformats.org/drawingml/2006/main">
            <a:r>
              <a:t>측정: 실제 모델, 로컬 Docker Compose, 1 Consumer, 20가구 × 1Hz, 600초, seed 42·43 평균. A는 메시지별 즉시 쓰기, B는 SELECT FOR UPDATE 후 flush, C는 UPDATE 단문 flush.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C:\Users\SSAFY\Desktop\D201\S15P21D201\docs\진행상황\최보경\20260927_observation_db_배치_flush_전후_측정.md</a:t>
            </a:r>
          </a:p>
          <a:p xmlns:a="http://schemas.openxmlformats.org/drawingml/2006/main">
            <a:r>
              <a:t>측정: 실제 모델, 로컬 Docker Compose, 1 Consumer, 20가구 × 1Hz, 600초, seed 42·43 평균. 직렬 합계는 observation_db, inference, activity_db, anomaly_detection, snapshot_publish_ack 평균의 합. flush는 5초에 한 번 실행되어 메시지별 직렬 합계에서 제외.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C:\Users\SSAFY\Desktop\D201\S15P21D201\docs\진행상황\최보경\20260927_observation_db_배치_flush_전후_측정.md</a:t>
            </a:r>
          </a:p>
          <a:p xmlns:a="http://schemas.openxmlformats.org/drawingml/2006/main">
            <a:r>
              <a:t>측정: 실제 모델, 로컬 Docker Compose, 1 Consumer, 20가구 × 1Hz, 600초, seed 42·43 평균. 비중은 문서에서 제시한 값. 처리 상한은 1000 ÷ 메시지당 직렬 합계로 계산. 비정상 종료 시 최대 5초치 카운트 유실 가능성이 있으며 미커밋 Offset 재처리 시 회복될 수 있음.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ddae95487d4a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73d44737b14005" /><Relationship Type="http://schemas.openxmlformats.org/officeDocument/2006/relationships/slideLayout" Target="/ppt/slideLayouts/slideLayout1.xml" Id="R89a539e27ec441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a539e27ec441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96f4ff43542cf" /><Relationship Type="http://schemas.openxmlformats.org/officeDocument/2006/relationships/notesSlide" Target="/ppt/notesSlides/notesSlide1.xml" Id="R7af4f52879f444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93afb5a514b4f" /><Relationship Type="http://schemas.openxmlformats.org/officeDocument/2006/relationships/notesSlide" Target="/ppt/notesSlides/notesSlide2.xml" Id="R431834579e7043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12484d1e64853" /><Relationship Type="http://schemas.openxmlformats.org/officeDocument/2006/relationships/notesSlide" Target="/ppt/notesSlides/notesSlide3.xml" Id="R637f1a340c434d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2D03A-F6BC-4146-9B67-B82F1FCB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observation_db 배치 flush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F91B6-3521-40AA-945E-3630367F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3792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37929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0E50D-643E-478E-A3E7-E0CC5CF9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B657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B6570"/>
                </a:solidFill>
                <a:latin typeface="Malgun Gothic"/>
                <a:ea typeface="Malgun Gothic"/>
                <a:cs typeface="Malgun Gothic"/>
              </a:rPr>
              <a:t>메시지마다 쓰던 관측 카운트를 메모리에 누적하고 5초마다 DB에 반영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F72A9-9494-4916-AD65-28F3ADC5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76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B657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5B6570"/>
                </a:solidFill>
                <a:latin typeface="Malgun Gothic"/>
                <a:ea typeface="Malgun Gothic"/>
                <a:cs typeface="Malgun Gothic"/>
              </a:rPr>
              <a:t>기존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9776C-86F0-4D09-82CB-56095D9A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6220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메시지 1건마다 행 잠금, 카운트 증가, 커밋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E3457-5180-46DB-8806-FFCC87B4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76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792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37929"/>
                </a:solidFill>
                <a:latin typeface="Malgun Gothic"/>
                <a:ea typeface="Malgun Gothic"/>
                <a:cs typeface="Malgun Gothic"/>
              </a:rPr>
              <a:t>변경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2942B-E41C-42EA-A2BA-98145455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05175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가구·날짜별 누적, 5초마다 한 트랜잭션으로 flush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5B5F2-E4EF-4063-A70F-34CEAA68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최종 구현은 행마다 UPDATE 한 문장으로 합산해 flush 시 잠금 경합을 줄임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10141-03A7-4740-BDA1-22AAAA63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570"/>
                </a:solidFill>
                <a:latin typeface="Malgun Gothic"/>
                <a:ea typeface="Malgun Gothic"/>
                <a:cs typeface="Malgun Gothic"/>
              </a:rPr>
              <a:t>비교 조건  실제 모델, 1 Consumer, 20가구 × 1Hz, 600초, seed 42·43 각 2회</a:t>
            </a:r>
          </a:p>
        </p:txBody>
      </p:sp>
    </p:spTree>
    <p:extLst>
      <p:ext uri="{BB962C8B-B14F-4D97-AF65-F5344CB8AC3E}">
        <p14:creationId xmlns:p14="http://schemas.microsoft.com/office/powerpoint/2010/main" val="20220006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A0B13-ACDF-4C89-9509-11805987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직렬 처리 시간 9.3% 감소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13D60-7747-4C9A-A4F9-009D5271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3792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3792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67B2F-F896-4E9A-9E73-0984BC3E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57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B6570"/>
                </a:solidFill>
                <a:latin typeface="Malgun Gothic"/>
                <a:ea typeface="Malgun Gothic"/>
                <a:cs typeface="Malgun Gothic"/>
              </a:rPr>
              <a:t>동일 조건에서 개선 전 A와 최종 구현 C를 비교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39450" cy="3190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191000"/>
                <a:gridCol w="2238375"/>
                <a:gridCol w="2238375"/>
                <a:gridCol w="21717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지표</a:t>
                      </a:r>
                    </a:p>
                  </a:txBody>
                  <a:tcPr marL="91440" marR="91440" marT="45720" marB="45720">
                    <a:solidFill>
                      <a:srgbClr val="F379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 전 A</a:t>
                      </a:r>
                    </a:p>
                  </a:txBody>
                  <a:tcPr marL="91440" marR="91440" marT="45720" marB="45720">
                    <a:solidFill>
                      <a:srgbClr val="F379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C</a:t>
                      </a:r>
                    </a:p>
                  </a:txBody>
                  <a:tcPr marL="91440" marR="91440" marT="45720" marB="45720">
                    <a:solidFill>
                      <a:srgbClr val="F379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변화</a:t>
                      </a:r>
                    </a:p>
                  </a:txBody>
                  <a:tcPr marL="91440" marR="91440" marT="45720" marB="45720">
                    <a:solidFill>
                      <a:srgbClr val="F37929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observation_db p95</a:t>
                      </a:r>
                    </a:p>
                  </a:txBody>
                  <a:tcPr marL="91440" marR="91440" marT="45720" marB="45720">
                    <a:solidFill>
                      <a:srgbClr val="FFF5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9.66 ms</a:t>
                      </a:r>
                    </a:p>
                  </a:txBody>
                  <a:tcPr marL="91440" marR="91440" marT="45720" marB="45720">
                    <a:solidFill>
                      <a:srgbClr val="FFF5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0.10 ms</a:t>
                      </a:r>
                    </a:p>
                  </a:txBody>
                  <a:tcPr marL="91440" marR="91440" marT="45720" marB="45720">
                    <a:solidFill>
                      <a:srgbClr val="FFF5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379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−99%</a:t>
                      </a:r>
                    </a:p>
                  </a:txBody>
                  <a:tcPr marL="91440" marR="91440" marT="45720" marB="45720">
                    <a:solidFill>
                      <a:srgbClr val="FFF5ED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메시지당 직렬 합계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61.4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379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−9.3%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실측 처리량 평균</a:t>
                      </a:r>
                    </a:p>
                  </a:txBody>
                  <a:tcPr marL="91440" marR="91440" marT="45720" marB="45720">
                    <a:solidFill>
                      <a:srgbClr val="FFF5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16.07 msg/s</a:t>
                      </a:r>
                    </a:p>
                  </a:txBody>
                  <a:tcPr marL="91440" marR="91440" marT="45720" marB="45720">
                    <a:solidFill>
                      <a:srgbClr val="FFF5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17.62 msg/s</a:t>
                      </a:r>
                    </a:p>
                  </a:txBody>
                  <a:tcPr marL="91440" marR="91440" marT="45720" marB="45720">
                    <a:solidFill>
                      <a:srgbClr val="FFF5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379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+9.6%</a:t>
                      </a:r>
                    </a:p>
                  </a:txBody>
                  <a:tcPr marL="91440" marR="91440" marT="45720" marB="45720">
                    <a:solidFill>
                      <a:srgbClr val="FFF5ED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max lag (600초)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2,480건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1,501건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379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−39%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CF608-B2D5-497D-B4C3-45BE4BCC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792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37929"/>
                </a:solidFill>
                <a:latin typeface="Malgun Gothic"/>
                <a:ea typeface="Malgun Gothic"/>
                <a:cs typeface="Malgun Gothic"/>
              </a:rPr>
              <a:t>Consumer당 계산 처리 상한  16.3 → 18.0 msg/s (+10%)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23EBA-58D4-4462-ADBB-0D1E4860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667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570"/>
                </a:solidFill>
                <a:latin typeface="Malgun Gothic"/>
                <a:ea typeface="Malgun Gothic"/>
                <a:cs typeface="Malgun Gothic"/>
              </a:rPr>
              <a:t>flush 평균 30.4ms/5초 · 6개 런 모두 오류, DLQ, lost 0</a:t>
            </a:r>
          </a:p>
        </p:txBody>
      </p:sp>
    </p:spTree>
    <p:extLst>
      <p:ext uri="{BB962C8B-B14F-4D97-AF65-F5344CB8AC3E}">
        <p14:creationId xmlns:p14="http://schemas.microsoft.com/office/powerpoint/2010/main" val="10117347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FD1C6-8137-4D42-93AF-B22030B4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20 msg/s 입력에는 여전히 못 미침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28DCE-BBFE-4F45-A3AD-3BF1B5C9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3792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3792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F7F8C-A187-4D96-B847-A3BFEABB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3792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37929"/>
                </a:solidFill>
                <a:latin typeface="Malgun Gothic"/>
                <a:ea typeface="Malgun Gothic"/>
                <a:cs typeface="Malgun Gothic"/>
              </a:rPr>
              <a:t>처리 상한 18.0 msg/s보다 입력이 많아 lag는 계속 누적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825FA-FFF7-4975-A650-9749390A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남은 직렬 처리 병목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66750" y="2790825"/>
          <a:ext xmlns:a="http://schemas.openxmlformats.org/drawingml/2006/main" cx="6762750" cy="2381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2095500"/>
                <a:gridCol w="1619250"/>
              </a:tblGrid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F379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평균 지연</a:t>
                      </a:r>
                    </a:p>
                  </a:txBody>
                  <a:tcPr marL="91440" marR="91440" marT="45720" marB="45720">
                    <a:solidFill>
                      <a:srgbClr val="F379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비중</a:t>
                      </a:r>
                    </a:p>
                  </a:txBody>
                  <a:tcPr marL="91440" marR="91440" marT="45720" marB="45720">
                    <a:solidFill>
                      <a:srgbClr val="F37929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inference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26.2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activity_db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17.3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anomaly_detection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11.2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DE8BC-3967-48FC-ABE6-3E1E1A02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276475"/>
            <a:ext cx="323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다음 계측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4AD46-7B62-4649-9194-85F06667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781300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activity_db 17ms를 세션 처리와 receipt·outbox 쓰기로 분해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BA606-6A4D-404E-A676-6BBE4302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914775"/>
            <a:ext cx="323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다음 개선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B00B8-1802-4BE3-AD65-97FEE8DB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4005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inference 배치 처리 검토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99355-36E7-42BE-BD6F-92DFD0FB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10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5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570"/>
                </a:solidFill>
                <a:latin typeface="Malgun Gothic"/>
                <a:ea typeface="Malgun Gothic"/>
                <a:cs typeface="Malgun Gothic"/>
              </a:rPr>
              <a:t>운영 적용 전 확인  DB 반영은 최대 5초 지연, 서버 환경에서 재측정 필요</a:t>
            </a:r>
          </a:p>
        </p:txBody>
      </p:sp>
    </p:spTree>
    <p:extLst>
      <p:ext uri="{BB962C8B-B14F-4D97-AF65-F5344CB8AC3E}">
        <p14:creationId xmlns:p14="http://schemas.microsoft.com/office/powerpoint/2010/main" val="1550500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2026-09-27T06:01:06.9160000Z</dcterms:created>
  <dcterms:modified xsi:type="dcterms:W3CDTF">2026-09-27T06:01:06.9160000Z</dcterms:modified>
</coreProperties>
</file>